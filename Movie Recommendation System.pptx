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Fira Code" panose="020B0809050000020004" pitchFamily="49" charset="0"/>
      <p:regular r:id="rId12"/>
    </p:embeddedFont>
    <p:embeddedFont>
      <p:font typeface="Montserrat" pitchFamily="2" charset="77"/>
      <p:regular r:id="rId13"/>
      <p:bold r:id="rId14"/>
      <p:italic r:id="rId15"/>
      <p:boldItalic r:id="rId16"/>
    </p:embeddedFont>
    <p:embeddedFont>
      <p:font typeface="Montserrat Bold" pitchFamily="2" charset="77"/>
      <p:regular r:id="rId17"/>
      <p:bold r:id="rId18"/>
      <p:italic r:id="rId19"/>
      <p:boldItalic r:id="rId20"/>
    </p:embeddedFont>
    <p:embeddedFont>
      <p:font typeface="Montserrat Semi-Bold" pitchFamily="2" charset="77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94626" autoAdjust="0"/>
  </p:normalViewPr>
  <p:slideViewPr>
    <p:cSldViewPr>
      <p:cViewPr>
        <p:scale>
          <a:sx n="119" d="100"/>
          <a:sy n="119" d="100"/>
        </p:scale>
        <p:origin x="-2976" y="-22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0853" y="3839093"/>
            <a:ext cx="16746293" cy="1009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26"/>
              </a:lnSpc>
            </a:pPr>
            <a:r>
              <a:rPr lang="en-US" sz="6605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Movie Recommendation System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70853" y="5100638"/>
            <a:ext cx="16746293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Content-Based Filtering using Machine Learning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70853" y="5895457"/>
            <a:ext cx="16746293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Selvendran S - iitrpr_ai_25010587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7773" y="447999"/>
            <a:ext cx="16746293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04"/>
              </a:lnSpc>
            </a:pPr>
            <a:r>
              <a:rPr lang="en-US" sz="5503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Problem Overview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77773" y="3246798"/>
            <a:ext cx="16746293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Streaming platforms offer 10,000+ movies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Users spend more time browsing than watching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60% of users experience decision fatigue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77773" y="2202695"/>
            <a:ext cx="11719027" cy="7143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764"/>
              </a:lnSpc>
              <a:spcBef>
                <a:spcPct val="0"/>
              </a:spcBef>
            </a:pPr>
            <a:r>
              <a:rPr lang="en-US" sz="4803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The Challenge: Choice Overload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7773" y="6073744"/>
            <a:ext cx="16746293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Build a smart recommendation engine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Suggest relevant movies based on content similarity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Help users discover movies they'll actually enjoy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77773" y="5025994"/>
            <a:ext cx="16746293" cy="71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764"/>
              </a:lnSpc>
              <a:spcBef>
                <a:spcPct val="0"/>
              </a:spcBef>
            </a:pPr>
            <a:r>
              <a:rPr lang="en-US" sz="4803" b="1" u="none" strike="noStrike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Our Solution: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826096" y="457524"/>
            <a:ext cx="4795513" cy="9615064"/>
          </a:xfrm>
          <a:custGeom>
            <a:avLst/>
            <a:gdLst/>
            <a:ahLst/>
            <a:cxnLst/>
            <a:rect l="l" t="t" r="r" b="b"/>
            <a:pathLst>
              <a:path w="4795513" h="9615064">
                <a:moveTo>
                  <a:pt x="0" y="0"/>
                </a:moveTo>
                <a:lnTo>
                  <a:pt x="4795513" y="0"/>
                </a:lnTo>
                <a:lnTo>
                  <a:pt x="4795513" y="9615064"/>
                </a:lnTo>
                <a:lnTo>
                  <a:pt x="0" y="96150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674591" y="1606664"/>
            <a:ext cx="3375787" cy="8465924"/>
          </a:xfrm>
          <a:custGeom>
            <a:avLst/>
            <a:gdLst/>
            <a:ahLst/>
            <a:cxnLst/>
            <a:rect l="l" t="t" r="r" b="b"/>
            <a:pathLst>
              <a:path w="3375787" h="8465924">
                <a:moveTo>
                  <a:pt x="0" y="0"/>
                </a:moveTo>
                <a:lnTo>
                  <a:pt x="3375788" y="0"/>
                </a:lnTo>
                <a:lnTo>
                  <a:pt x="3375788" y="8465924"/>
                </a:lnTo>
                <a:lnTo>
                  <a:pt x="0" y="84659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777773" y="467049"/>
            <a:ext cx="16746293" cy="71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System Design - Architecture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7772" y="1501936"/>
            <a:ext cx="5089627" cy="7143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764"/>
              </a:lnSpc>
              <a:spcBef>
                <a:spcPct val="0"/>
              </a:spcBef>
            </a:pPr>
            <a:r>
              <a:rPr lang="en-US" sz="4803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Data Pipeline: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7773" y="447999"/>
            <a:ext cx="16746293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04"/>
              </a:lnSpc>
            </a:pPr>
            <a:r>
              <a:rPr lang="en-US" sz="5503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System Design - Key Components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77773" y="3440906"/>
            <a:ext cx="16746293" cy="245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en-US" sz="2702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Data Processing:</a:t>
            </a: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pandas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en-US" sz="2702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Text Vectorization:</a:t>
            </a: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TF-IDF (5,000 features)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en-US" sz="2702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Clustering:</a:t>
            </a: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K-Means (25 clusters)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en-US" sz="2702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Similarity:</a:t>
            </a: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Cosine Similarity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en-US" sz="2702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Search:</a:t>
            </a: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Fuzzy Matching (difflib)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en-US" sz="2702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Visualization:</a:t>
            </a: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Plotly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77772" y="2445544"/>
            <a:ext cx="6842227" cy="7143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764"/>
              </a:lnSpc>
              <a:spcBef>
                <a:spcPct val="0"/>
              </a:spcBef>
            </a:pPr>
            <a:r>
              <a:rPr lang="en-US" sz="4803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Technologies Used: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7773" y="6441281"/>
            <a:ext cx="4362094" cy="71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764"/>
              </a:lnSpc>
              <a:spcBef>
                <a:spcPct val="0"/>
              </a:spcBef>
            </a:pPr>
            <a:r>
              <a:rPr lang="en-US" sz="4803" b="1" u="none" strike="noStrike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Environment: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77773" y="7441406"/>
            <a:ext cx="5441156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42"/>
              </a:lnSpc>
              <a:spcBef>
                <a:spcPct val="0"/>
              </a:spcBef>
            </a:pPr>
            <a:r>
              <a:rPr lang="en-US" sz="2702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Python 3.10 + Jupyter Notebook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7773" y="3861949"/>
            <a:ext cx="11301259" cy="5396351"/>
          </a:xfrm>
          <a:custGeom>
            <a:avLst/>
            <a:gdLst/>
            <a:ahLst/>
            <a:cxnLst/>
            <a:rect l="l" t="t" r="r" b="b"/>
            <a:pathLst>
              <a:path w="11301259" h="5396351">
                <a:moveTo>
                  <a:pt x="0" y="0"/>
                </a:moveTo>
                <a:lnTo>
                  <a:pt x="11301259" y="0"/>
                </a:lnTo>
                <a:lnTo>
                  <a:pt x="11301259" y="5396351"/>
                </a:lnTo>
                <a:lnTo>
                  <a:pt x="0" y="53963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77773" y="467049"/>
            <a:ext cx="16746293" cy="71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Movie Recommendations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70853" y="1722515"/>
            <a:ext cx="16746293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Input: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7773" y="3204724"/>
            <a:ext cx="16746293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Output: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70853" y="2244533"/>
            <a:ext cx="16746293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Fira Code"/>
                <a:ea typeface="Fira Code"/>
                <a:cs typeface="Fira Code"/>
                <a:sym typeface="Fira Code"/>
              </a:rPr>
              <a:t>recommender.recommend('Avatar', top_n=10)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50920" y="3047853"/>
            <a:ext cx="8373147" cy="1973307"/>
          </a:xfrm>
          <a:custGeom>
            <a:avLst/>
            <a:gdLst/>
            <a:ahLst/>
            <a:cxnLst/>
            <a:rect l="l" t="t" r="r" b="b"/>
            <a:pathLst>
              <a:path w="8373147" h="1973307">
                <a:moveTo>
                  <a:pt x="0" y="0"/>
                </a:moveTo>
                <a:lnTo>
                  <a:pt x="8373146" y="0"/>
                </a:lnTo>
                <a:lnTo>
                  <a:pt x="8373146" y="1973307"/>
                </a:lnTo>
                <a:lnTo>
                  <a:pt x="0" y="197330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9359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77773" y="3047853"/>
            <a:ext cx="7663329" cy="1973307"/>
          </a:xfrm>
          <a:custGeom>
            <a:avLst/>
            <a:gdLst/>
            <a:ahLst/>
            <a:cxnLst/>
            <a:rect l="l" t="t" r="r" b="b"/>
            <a:pathLst>
              <a:path w="7663329" h="1973307">
                <a:moveTo>
                  <a:pt x="0" y="0"/>
                </a:moveTo>
                <a:lnTo>
                  <a:pt x="7663329" y="0"/>
                </a:lnTo>
                <a:lnTo>
                  <a:pt x="7663329" y="1973307"/>
                </a:lnTo>
                <a:lnTo>
                  <a:pt x="0" y="19733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777773" y="467049"/>
            <a:ext cx="16746293" cy="71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64"/>
              </a:lnSpc>
            </a:pPr>
            <a:r>
              <a:rPr lang="en-US" sz="4803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Key Features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7773" y="1692926"/>
            <a:ext cx="8366227" cy="79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1. Fuzzy Search (handles typos):</a:t>
            </a:r>
          </a:p>
          <a:p>
            <a:pPr algn="l">
              <a:lnSpc>
                <a:spcPts val="2642"/>
              </a:lnSpc>
            </a:pPr>
            <a:r>
              <a:rPr lang="en-US" sz="2202">
                <a:solidFill>
                  <a:srgbClr val="000000"/>
                </a:solidFill>
                <a:latin typeface="Fira Code"/>
                <a:ea typeface="Fira Code"/>
                <a:cs typeface="Fira Code"/>
                <a:sym typeface="Fira Code"/>
              </a:rPr>
              <a:t>   recommender.recommend('Avtar', top_n=5)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144000" y="1692926"/>
            <a:ext cx="8532466" cy="1123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2. Hybrid Mode (content + popularity):</a:t>
            </a:r>
          </a:p>
          <a:p>
            <a:pPr algn="l">
              <a:lnSpc>
                <a:spcPts val="2642"/>
              </a:lnSpc>
            </a:pPr>
            <a:r>
              <a:rPr lang="en-US" sz="2202">
                <a:solidFill>
                  <a:srgbClr val="000000"/>
                </a:solidFill>
                <a:latin typeface="Fira Code"/>
                <a:ea typeface="Fira Code"/>
                <a:cs typeface="Fira Code"/>
                <a:sym typeface="Fira Code"/>
              </a:rPr>
              <a:t>   recommender.recommend('The Dark Knight', top_n=5, hybrid=True)</a:t>
            </a:r>
          </a:p>
        </p:txBody>
      </p:sp>
      <p:sp>
        <p:nvSpPr>
          <p:cNvPr id="7" name="Freeform 7"/>
          <p:cNvSpPr/>
          <p:nvPr/>
        </p:nvSpPr>
        <p:spPr>
          <a:xfrm>
            <a:off x="4476545" y="7050744"/>
            <a:ext cx="8380066" cy="1969316"/>
          </a:xfrm>
          <a:custGeom>
            <a:avLst/>
            <a:gdLst/>
            <a:ahLst/>
            <a:cxnLst/>
            <a:rect l="l" t="t" r="r" b="b"/>
            <a:pathLst>
              <a:path w="8380066" h="1969316">
                <a:moveTo>
                  <a:pt x="0" y="0"/>
                </a:moveTo>
                <a:lnTo>
                  <a:pt x="8380066" y="0"/>
                </a:lnTo>
                <a:lnTo>
                  <a:pt x="8380066" y="1969315"/>
                </a:lnTo>
                <a:lnTo>
                  <a:pt x="0" y="19693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4476545" y="6031569"/>
            <a:ext cx="9334911" cy="79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3. Genre Filter:</a:t>
            </a:r>
          </a:p>
          <a:p>
            <a:pPr algn="l">
              <a:lnSpc>
                <a:spcPts val="2642"/>
              </a:lnSpc>
            </a:pPr>
            <a:r>
              <a:rPr lang="en-US" sz="2202">
                <a:solidFill>
                  <a:srgbClr val="000000"/>
                </a:solidFill>
                <a:latin typeface="Fira Code"/>
                <a:ea typeface="Fira Code"/>
                <a:cs typeface="Fira Code"/>
                <a:sym typeface="Fira Code"/>
              </a:rPr>
              <a:t>   recommender.recommend('Avatar', genre='Action')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7773" y="3945403"/>
            <a:ext cx="8420098" cy="5162185"/>
          </a:xfrm>
          <a:custGeom>
            <a:avLst/>
            <a:gdLst/>
            <a:ahLst/>
            <a:cxnLst/>
            <a:rect l="l" t="t" r="r" b="b"/>
            <a:pathLst>
              <a:path w="8420098" h="5162185">
                <a:moveTo>
                  <a:pt x="0" y="0"/>
                </a:moveTo>
                <a:lnTo>
                  <a:pt x="8420098" y="0"/>
                </a:lnTo>
                <a:lnTo>
                  <a:pt x="8420098" y="5162186"/>
                </a:lnTo>
                <a:lnTo>
                  <a:pt x="0" y="51621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9674429" y="3945403"/>
            <a:ext cx="8420098" cy="5162185"/>
          </a:xfrm>
          <a:custGeom>
            <a:avLst/>
            <a:gdLst/>
            <a:ahLst/>
            <a:cxnLst/>
            <a:rect l="l" t="t" r="r" b="b"/>
            <a:pathLst>
              <a:path w="8420098" h="5162185">
                <a:moveTo>
                  <a:pt x="0" y="0"/>
                </a:moveTo>
                <a:lnTo>
                  <a:pt x="8420098" y="0"/>
                </a:lnTo>
                <a:lnTo>
                  <a:pt x="8420098" y="5162186"/>
                </a:lnTo>
                <a:lnTo>
                  <a:pt x="0" y="51621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777773" y="447999"/>
            <a:ext cx="16746293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04"/>
              </a:lnSpc>
            </a:pPr>
            <a:r>
              <a:rPr lang="en-US" sz="5503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Visualizations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7772" y="1874686"/>
            <a:ext cx="8747225" cy="7143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764"/>
              </a:lnSpc>
              <a:spcBef>
                <a:spcPct val="0"/>
              </a:spcBef>
            </a:pPr>
            <a:r>
              <a:rPr lang="en-US" sz="4803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Cluster Visualization (PCA):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77773" y="2859553"/>
            <a:ext cx="8420098" cy="81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4,800 movies grouped into 25 clusters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Similar movies appear close together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14853" y="1874686"/>
            <a:ext cx="6468144" cy="7143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764"/>
              </a:lnSpc>
              <a:spcBef>
                <a:spcPct val="0"/>
              </a:spcBef>
            </a:pPr>
            <a:r>
              <a:rPr lang="en-US" sz="4803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Genre Distribution: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14853" y="2859553"/>
            <a:ext cx="8420098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Top genres: Drama, Comedy, Thriller, Action</a:t>
            </a:r>
          </a:p>
        </p:txBody>
      </p:sp>
      <p:sp>
        <p:nvSpPr>
          <p:cNvPr id="9" name="AutoShape 9"/>
          <p:cNvSpPr/>
          <p:nvPr/>
        </p:nvSpPr>
        <p:spPr>
          <a:xfrm>
            <a:off x="9674429" y="1504319"/>
            <a:ext cx="0" cy="8782681"/>
          </a:xfrm>
          <a:prstGeom prst="line">
            <a:avLst/>
          </a:prstGeom>
          <a:ln w="476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7773" y="457524"/>
            <a:ext cx="16746293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99"/>
              </a:lnSpc>
            </a:pPr>
            <a:r>
              <a:rPr lang="en-US" sz="54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Results &amp; Performance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77773" y="2965337"/>
            <a:ext cx="6807250" cy="2047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Total Movies: 4,803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Clusters: 25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TF-IDF Features: 5,000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Recommendation Speed: &lt;50ms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Search Space Reduction: 95%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7565" y="2016695"/>
            <a:ext cx="7925435" cy="7143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764"/>
              </a:lnSpc>
              <a:spcBef>
                <a:spcPct val="0"/>
              </a:spcBef>
            </a:pPr>
            <a:r>
              <a:rPr lang="en-US" sz="4803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Performance Metrics: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6086" y="5789582"/>
            <a:ext cx="7002514" cy="7100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764"/>
              </a:lnSpc>
              <a:spcBef>
                <a:spcPct val="0"/>
              </a:spcBef>
            </a:pPr>
            <a:r>
              <a:rPr lang="en-US" sz="4803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Quality Observations: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77773" y="6742082"/>
            <a:ext cx="16746293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85% of recommendations share at least 1 genre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Same-director movies rank higher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Fuzzy search handles 1-2 character errors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7773" y="457524"/>
            <a:ext cx="16746293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99"/>
              </a:lnSpc>
            </a:pPr>
            <a:r>
              <a:rPr lang="en-US" sz="54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Key Learnings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77773" y="2965337"/>
            <a:ext cx="16746293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TF-IDF for text vectorization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K-Means clustering for grouping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Cosine similarity for sparse vectors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7565" y="2016695"/>
            <a:ext cx="7773035" cy="7143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764"/>
              </a:lnSpc>
              <a:spcBef>
                <a:spcPct val="0"/>
              </a:spcBef>
            </a:pPr>
            <a:r>
              <a:rPr lang="en-US" sz="4803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Technical Skills Gained: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39166" y="5023228"/>
            <a:ext cx="8533434" cy="7143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764"/>
              </a:lnSpc>
              <a:spcBef>
                <a:spcPct val="0"/>
              </a:spcBef>
            </a:pPr>
            <a:r>
              <a:rPr lang="en-US" sz="4803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Challenges &amp; Solutions: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70853" y="5975728"/>
            <a:ext cx="16746293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High-dimensional data -&gt; Limited to 5,000 features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Typos in search -&gt; Added fuzzy matching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Popularity bias -&gt; Hybrid scoring option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7773" y="447999"/>
            <a:ext cx="16746293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04"/>
              </a:lnSpc>
            </a:pPr>
            <a:r>
              <a:rPr lang="en-US" sz="5503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Conclusion &amp; Future Work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77773" y="7319824"/>
            <a:ext cx="16746293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Collaborative filtering, Deep learning, Web interface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7816" y="1815821"/>
            <a:ext cx="5268183" cy="7100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764"/>
              </a:lnSpc>
              <a:spcBef>
                <a:spcPct val="0"/>
              </a:spcBef>
            </a:pPr>
            <a:r>
              <a:rPr lang="en-US" sz="4803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What We Built: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0853" y="2718180"/>
            <a:ext cx="16746293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Content-based movie recommender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Fuzzy search + hybrid scoring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Interactive visualizations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14086" y="4318914"/>
            <a:ext cx="3986513" cy="7143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764"/>
              </a:lnSpc>
              <a:spcBef>
                <a:spcPct val="0"/>
              </a:spcBef>
            </a:pPr>
            <a:r>
              <a:rPr lang="en-US" sz="4803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Limitations: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77773" y="5223789"/>
            <a:ext cx="16746293" cy="81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No user personalization (content-only)</a:t>
            </a:r>
          </a:p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 English movies only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77772" y="6414949"/>
            <a:ext cx="7375627" cy="7143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764"/>
              </a:lnSpc>
              <a:spcBef>
                <a:spcPct val="0"/>
              </a:spcBef>
            </a:pPr>
            <a:r>
              <a:rPr lang="en-US" sz="4803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Future Improvements: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377136" y="8252136"/>
            <a:ext cx="6119664" cy="11525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004"/>
              </a:lnSpc>
              <a:spcBef>
                <a:spcPct val="0"/>
              </a:spcBef>
            </a:pPr>
            <a:r>
              <a:rPr lang="en-US" sz="7503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406</Words>
  <Application>Microsoft Macintosh PowerPoint</Application>
  <PresentationFormat>Custom</PresentationFormat>
  <Paragraphs>72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Montserrat Bold</vt:lpstr>
      <vt:lpstr>Arial</vt:lpstr>
      <vt:lpstr>Fira Code</vt:lpstr>
      <vt:lpstr>Montserrat</vt:lpstr>
      <vt:lpstr>Calibri</vt:lpstr>
      <vt:lpstr>Montserrat Semi-Bold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Movie Recommendation System</dc:title>
  <cp:lastModifiedBy>SELVA STSS</cp:lastModifiedBy>
  <cp:revision>2</cp:revision>
  <dcterms:created xsi:type="dcterms:W3CDTF">2006-08-16T00:00:00Z</dcterms:created>
  <dcterms:modified xsi:type="dcterms:W3CDTF">2026-01-17T16:55:58Z</dcterms:modified>
  <dc:identifier>DAG-rHPgZng</dc:identifier>
</cp:coreProperties>
</file>