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Montserrat Semi-Bold" charset="1" panose="00000700000000000000"/>
      <p:regular r:id="rId18"/>
    </p:embeddedFont>
    <p:embeddedFont>
      <p:font typeface="Fira Code" charset="1" panose="020B080905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0853" y="3839093"/>
            <a:ext cx="167462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Movie Recommendation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0853" y="5100638"/>
            <a:ext cx="1674629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Content-Based Filtering using Machine Learning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0853" y="5895457"/>
            <a:ext cx="1674629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sz="36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elvendran S - iitrpr_ai_25010587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447999"/>
            <a:ext cx="167462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4"/>
              </a:lnSpc>
            </a:pPr>
            <a:r>
              <a:rPr lang="en-US" sz="55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773" y="3246798"/>
            <a:ext cx="167462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Streaming platforms offer 10,000+ movies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Users spend more time browsing than watching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60% of users experience decision fatigue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773" y="2202695"/>
            <a:ext cx="1002052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Challenge: Choice Overload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6073744"/>
            <a:ext cx="167462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Build a smart recommendation engine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Suggest relevant movies based on content similarity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Help users discover movies they'll actually enjoy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773" y="5025994"/>
            <a:ext cx="167462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64"/>
              </a:lnSpc>
              <a:spcBef>
                <a:spcPct val="0"/>
              </a:spcBef>
            </a:pPr>
            <a:r>
              <a:rPr lang="en-US" b="true" sz="4803" strike="noStrike" u="non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Our Solution: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26096" y="457524"/>
            <a:ext cx="4795513" cy="9615064"/>
          </a:xfrm>
          <a:custGeom>
            <a:avLst/>
            <a:gdLst/>
            <a:ahLst/>
            <a:cxnLst/>
            <a:rect r="r" b="b" t="t" l="l"/>
            <a:pathLst>
              <a:path h="9615064" w="4795513">
                <a:moveTo>
                  <a:pt x="0" y="0"/>
                </a:moveTo>
                <a:lnTo>
                  <a:pt x="4795513" y="0"/>
                </a:lnTo>
                <a:lnTo>
                  <a:pt x="4795513" y="9615064"/>
                </a:lnTo>
                <a:lnTo>
                  <a:pt x="0" y="9615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74591" y="1606664"/>
            <a:ext cx="3375787" cy="8465924"/>
          </a:xfrm>
          <a:custGeom>
            <a:avLst/>
            <a:gdLst/>
            <a:ahLst/>
            <a:cxnLst/>
            <a:rect r="r" b="b" t="t" l="l"/>
            <a:pathLst>
              <a:path h="8465924" w="3375787">
                <a:moveTo>
                  <a:pt x="0" y="0"/>
                </a:moveTo>
                <a:lnTo>
                  <a:pt x="3375788" y="0"/>
                </a:lnTo>
                <a:lnTo>
                  <a:pt x="3375788" y="8465924"/>
                </a:lnTo>
                <a:lnTo>
                  <a:pt x="0" y="8465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7773" y="467049"/>
            <a:ext cx="167462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Design -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1501936"/>
            <a:ext cx="438157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Pipeline: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447999"/>
            <a:ext cx="167462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Design - Key Components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773" y="3440906"/>
            <a:ext cx="16746293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Processing: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pandas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Text Vectorization: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TF-IDF (5,000 features)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Clustering: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K-Means (25 clusters)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Similarity: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Cosine Similarity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Search: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Fuzzy Matching (difflib)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7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Visualization: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Plotly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773" y="2445544"/>
            <a:ext cx="607151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Technologies Used: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6441281"/>
            <a:ext cx="436209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64"/>
              </a:lnSpc>
              <a:spcBef>
                <a:spcPct val="0"/>
              </a:spcBef>
            </a:pPr>
            <a:r>
              <a:rPr lang="en-US" b="true" sz="4803" strike="noStrike" u="non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Environment: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773" y="7441406"/>
            <a:ext cx="544115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2"/>
              </a:lnSpc>
              <a:spcBef>
                <a:spcPct val="0"/>
              </a:spcBef>
            </a:pPr>
            <a:r>
              <a:rPr lang="en-US" sz="2702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Python 3.10 + Jupyter Notebook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773" y="3861949"/>
            <a:ext cx="11301259" cy="5396351"/>
          </a:xfrm>
          <a:custGeom>
            <a:avLst/>
            <a:gdLst/>
            <a:ahLst/>
            <a:cxnLst/>
            <a:rect r="r" b="b" t="t" l="l"/>
            <a:pathLst>
              <a:path h="5396351" w="11301259">
                <a:moveTo>
                  <a:pt x="0" y="0"/>
                </a:moveTo>
                <a:lnTo>
                  <a:pt x="11301259" y="0"/>
                </a:lnTo>
                <a:lnTo>
                  <a:pt x="11301259" y="5396351"/>
                </a:lnTo>
                <a:lnTo>
                  <a:pt x="0" y="539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7773" y="467049"/>
            <a:ext cx="167462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Movie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0853" y="1722515"/>
            <a:ext cx="1674629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3204724"/>
            <a:ext cx="1674629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853" y="2244533"/>
            <a:ext cx="1674629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recommender.recommend('Avatar', top_n=10)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50920" y="3047853"/>
            <a:ext cx="8373147" cy="1973307"/>
          </a:xfrm>
          <a:custGeom>
            <a:avLst/>
            <a:gdLst/>
            <a:ahLst/>
            <a:cxnLst/>
            <a:rect r="r" b="b" t="t" l="l"/>
            <a:pathLst>
              <a:path h="1973307" w="8373147">
                <a:moveTo>
                  <a:pt x="0" y="0"/>
                </a:moveTo>
                <a:lnTo>
                  <a:pt x="8373146" y="0"/>
                </a:lnTo>
                <a:lnTo>
                  <a:pt x="8373146" y="1973307"/>
                </a:lnTo>
                <a:lnTo>
                  <a:pt x="0" y="1973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35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7773" y="3047853"/>
            <a:ext cx="7663329" cy="1973307"/>
          </a:xfrm>
          <a:custGeom>
            <a:avLst/>
            <a:gdLst/>
            <a:ahLst/>
            <a:cxnLst/>
            <a:rect r="r" b="b" t="t" l="l"/>
            <a:pathLst>
              <a:path h="1973307" w="7663329">
                <a:moveTo>
                  <a:pt x="0" y="0"/>
                </a:moveTo>
                <a:lnTo>
                  <a:pt x="7663329" y="0"/>
                </a:lnTo>
                <a:lnTo>
                  <a:pt x="7663329" y="1973307"/>
                </a:lnTo>
                <a:lnTo>
                  <a:pt x="0" y="1973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7773" y="467049"/>
            <a:ext cx="167462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48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1692926"/>
            <a:ext cx="836622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1. Fuzzy Search (handles typos):</a:t>
            </a:r>
          </a:p>
          <a:p>
            <a:pPr algn="l">
              <a:lnSpc>
                <a:spcPts val="2642"/>
              </a:lnSpc>
            </a:pPr>
            <a:r>
              <a:rPr lang="en-US" sz="220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recommender.recommend('Avtar', top_n=5)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1692926"/>
            <a:ext cx="8532466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2. Hybrid Mode (content + popularity):</a:t>
            </a:r>
          </a:p>
          <a:p>
            <a:pPr algn="l">
              <a:lnSpc>
                <a:spcPts val="2642"/>
              </a:lnSpc>
            </a:pPr>
            <a:r>
              <a:rPr lang="en-US" sz="220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recommender.recommend('The Dark Knight', top_n=5, hybrid=True)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476545" y="7050744"/>
            <a:ext cx="8380066" cy="1969316"/>
          </a:xfrm>
          <a:custGeom>
            <a:avLst/>
            <a:gdLst/>
            <a:ahLst/>
            <a:cxnLst/>
            <a:rect r="r" b="b" t="t" l="l"/>
            <a:pathLst>
              <a:path h="1969316" w="8380066">
                <a:moveTo>
                  <a:pt x="0" y="0"/>
                </a:moveTo>
                <a:lnTo>
                  <a:pt x="8380066" y="0"/>
                </a:lnTo>
                <a:lnTo>
                  <a:pt x="8380066" y="1969315"/>
                </a:lnTo>
                <a:lnTo>
                  <a:pt x="0" y="1969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76545" y="6031569"/>
            <a:ext cx="9334911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3. Genre Filter:</a:t>
            </a:r>
          </a:p>
          <a:p>
            <a:pPr algn="l">
              <a:lnSpc>
                <a:spcPts val="2642"/>
              </a:lnSpc>
            </a:pPr>
            <a:r>
              <a:rPr lang="en-US" sz="220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recommender.recommend('Avatar', genre='Action')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773" y="3945403"/>
            <a:ext cx="8420098" cy="5162185"/>
          </a:xfrm>
          <a:custGeom>
            <a:avLst/>
            <a:gdLst/>
            <a:ahLst/>
            <a:cxnLst/>
            <a:rect r="r" b="b" t="t" l="l"/>
            <a:pathLst>
              <a:path h="5162185" w="8420098">
                <a:moveTo>
                  <a:pt x="0" y="0"/>
                </a:moveTo>
                <a:lnTo>
                  <a:pt x="8420098" y="0"/>
                </a:lnTo>
                <a:lnTo>
                  <a:pt x="8420098" y="5162186"/>
                </a:lnTo>
                <a:lnTo>
                  <a:pt x="0" y="5162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74429" y="3945403"/>
            <a:ext cx="8420098" cy="5162185"/>
          </a:xfrm>
          <a:custGeom>
            <a:avLst/>
            <a:gdLst/>
            <a:ahLst/>
            <a:cxnLst/>
            <a:rect r="r" b="b" t="t" l="l"/>
            <a:pathLst>
              <a:path h="5162185" w="8420098">
                <a:moveTo>
                  <a:pt x="0" y="0"/>
                </a:moveTo>
                <a:lnTo>
                  <a:pt x="8420098" y="0"/>
                </a:lnTo>
                <a:lnTo>
                  <a:pt x="8420098" y="5162186"/>
                </a:lnTo>
                <a:lnTo>
                  <a:pt x="0" y="516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7773" y="447999"/>
            <a:ext cx="167462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4"/>
              </a:lnSpc>
            </a:pPr>
            <a:r>
              <a:rPr lang="en-US" sz="55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773" y="1874686"/>
            <a:ext cx="84855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Cluster Visualization (PCA):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773" y="2859553"/>
            <a:ext cx="842009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4,800 movies grouped into 25 clusters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Similar movies appear close together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4853" y="1874686"/>
            <a:ext cx="597820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Genre Distribution: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4853" y="2859553"/>
            <a:ext cx="842009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Top genres: Drama, Comedy, Thriller, Action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9674429" y="1504319"/>
            <a:ext cx="0" cy="8782681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457524"/>
            <a:ext cx="1674629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&amp;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773" y="2965337"/>
            <a:ext cx="6807250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Total Movies: 4,803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Clusters: 25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TF-IDF Features: 5,000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Recommendation Speed: &lt;50ms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Search Space Reduction: 95%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7565" y="2016695"/>
            <a:ext cx="673707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Performance Metrics: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6086" y="5789582"/>
            <a:ext cx="673893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Quality Observations: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773" y="6742082"/>
            <a:ext cx="167462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85% of recommendations share at least 1 genre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Same-director movies rank higher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Fuzzy search handles 1-2 character errors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457524"/>
            <a:ext cx="1674629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</a:t>
            </a:r>
            <a:r>
              <a:rPr lang="en-US" sz="5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ey Learnings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773" y="2965337"/>
            <a:ext cx="167462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TF-IDF for text vectorization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K-Means clustering for grouping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Cosine similarity for sparse vectors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7565" y="2016695"/>
            <a:ext cx="731244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</a:t>
            </a: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echnical Skills Gained: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9166" y="5023228"/>
            <a:ext cx="73477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Ch</a:t>
            </a: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allenges &amp; Solutions: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853" y="5975728"/>
            <a:ext cx="167462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High-dimensional data -&gt; Limited to 5,000 features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Typos in search -&gt; Added fuzzy matching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Popularity bias -&gt; Hybrid scoring option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447999"/>
            <a:ext cx="167462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773" y="7319824"/>
            <a:ext cx="1674629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Collaborative filtering, Deep learning, Web 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7817" y="1815821"/>
            <a:ext cx="478117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What We Built: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0853" y="2718180"/>
            <a:ext cx="167462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Content-based movie recommender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Fuzzy search + hybrid scoring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Interactive visualizations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4087" y="4318914"/>
            <a:ext cx="36989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Limitations: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773" y="5223789"/>
            <a:ext cx="1674629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No user personalization (content-only)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English movies only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6414949"/>
            <a:ext cx="704455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Fu</a:t>
            </a:r>
            <a:r>
              <a:rPr lang="en-US" b="true" sz="480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ture Improvements: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7136" y="8252136"/>
            <a:ext cx="5533727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4"/>
              </a:lnSpc>
              <a:spcBef>
                <a:spcPct val="0"/>
              </a:spcBef>
            </a:pPr>
            <a:r>
              <a:rPr lang="en-US" b="true" sz="75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DAG-rHPgZng</dc:identifier>
  <dcterms:modified xsi:type="dcterms:W3CDTF">2011-08-01T06:04:30Z</dcterms:modified>
  <cp:revision>1</cp:revision>
  <dc:title>Movie Recommendation System</dc:title>
</cp:coreProperties>
</file>